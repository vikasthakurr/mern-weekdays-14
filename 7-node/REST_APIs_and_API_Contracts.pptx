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74320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95160" y="274320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274320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9640" y="274320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078992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95160" y="1078992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078992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9640" y="1078992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883664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883664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1883664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1883664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688336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2688336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2688336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49640" y="2688336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493008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95160" y="3493008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3493008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49640" y="3493008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4297680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95160" y="4297680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4297680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49640" y="4297680"/>
            <a:ext cx="109728" cy="109728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9144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5600" dirty="0"/>
          </a:p>
        </p:txBody>
      </p:sp>
      <p:sp>
        <p:nvSpPr>
          <p:cNvPr id="28" name="Text 26"/>
          <p:cNvSpPr/>
          <p:nvPr/>
        </p:nvSpPr>
        <p:spPr>
          <a:xfrm>
            <a:off x="457200" y="19202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300" kern="0" dirty="0">
                <a:solidFill>
                  <a:srgbClr val="3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API CONTRACTS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57200" y="2880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Document · Enforce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2011680" cy="320040"/>
          </a:xfrm>
          <a:prstGeom prst="rect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Fundamentals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41148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34416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REST?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76479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&amp; constraints of RESTful architecture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43000"/>
            <a:ext cx="41148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134416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 &amp; Status Codes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21608" y="176479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POST, PUT, PATCH, DELETE + response semantics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41148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10528" y="134416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 Best Practices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0528" y="176479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naming, versioning, pagination, errors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97480"/>
            <a:ext cx="41148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289864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331927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 and why they matter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6974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697480"/>
            <a:ext cx="41148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21608" y="289864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/ Swagger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21608" y="331927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contracts with a standard spec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6974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697480"/>
            <a:ext cx="41148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10528" y="289864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10528" y="331927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Consumer-Driven Contracts with Pact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REST?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200400" cy="3749040"/>
          </a:xfrm>
          <a:prstGeom prst="rect">
            <a:avLst/>
          </a:prstGeom>
          <a:solidFill>
            <a:srgbClr val="132237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3017520" cy="1828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7520"/>
            <a:ext cx="3017520" cy="1828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9067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02920" y="3639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ransfer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1005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Constraints (Fielding, 2000)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0" y="1490472"/>
            <a:ext cx="201168" cy="201168"/>
          </a:xfrm>
          <a:prstGeom prst="ellipse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417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1691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and data concerns separated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2057400"/>
            <a:ext cx="201168" cy="201168"/>
          </a:xfrm>
          <a:prstGeom prst="ellipse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1984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22585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is self-contained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2624328"/>
            <a:ext cx="201168" cy="201168"/>
          </a:xfrm>
          <a:prstGeom prst="ellipse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25511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Cacheable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28254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define cacheability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0" y="3191256"/>
            <a:ext cx="201168" cy="201168"/>
          </a:xfrm>
          <a:prstGeom prst="ellipse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31181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Interface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0" y="33924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resource identification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0" y="3758184"/>
            <a:ext cx="201168" cy="201168"/>
          </a:xfrm>
          <a:prstGeom prst="ellipse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3685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System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0" y="39593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can't tell intermediaries from origin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0" y="4325112"/>
            <a:ext cx="201168" cy="201168"/>
          </a:xfrm>
          <a:prstGeom prst="ellipse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4251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on Demand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0" y="4526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send executable code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 &amp; Status Codes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1005840"/>
            <a:ext cx="1737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005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0" y="1005840"/>
            <a:ext cx="20116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1005840"/>
            <a:ext cx="11887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10058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0" y="1005840"/>
            <a:ext cx="11887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0058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389888"/>
            <a:ext cx="8138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45389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538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13898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resource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13248" y="13898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47688" y="13898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1480" y="1847088"/>
            <a:ext cx="813816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91109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9110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72768" y="18470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resource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13248" y="18470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47688" y="18470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11480" y="2304288"/>
            <a:ext cx="8138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36829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682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72768" y="23042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resource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13248" y="23042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47688" y="23042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11480" y="2761488"/>
            <a:ext cx="813816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82549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8254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72768" y="27614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partial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13248" y="27614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47688" y="27614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11480" y="3218688"/>
            <a:ext cx="8138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28269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2826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572768" y="32186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resource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13248" y="32186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47688" y="32186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Status Codes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4069080"/>
            <a:ext cx="2011680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57200" y="4087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2xx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457200" y="43891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· 201 Created · 204 No Content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78608" y="4069080"/>
            <a:ext cx="201168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578608" y="4087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3xx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2578608" y="43891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Moved · 304 Not Modified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0016" y="4069080"/>
            <a:ext cx="201168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700016" y="4087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4700016" y="43891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Error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 · 401 Unauth · 404 Not Found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21424" y="4069080"/>
            <a:ext cx="2011680" cy="7772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821424" y="4087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821424" y="43891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Internal · 503 Unavailable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 Best Practices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160520" cy="1783080"/>
          </a:xfrm>
          <a:prstGeom prst="rect">
            <a:avLst/>
          </a:prstGeom>
          <a:solidFill>
            <a:srgbClr val="132237"/>
          </a:solidFill>
          <a:ln w="12700">
            <a:solidFill>
              <a:srgbClr val="0E9C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4160520" cy="347472"/>
          </a:xfrm>
          <a:prstGeom prst="rect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Naming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4630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4447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/users/42/orders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7647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/getOrdersForUser?id=42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130552"/>
            <a:ext cx="3931920" cy="1828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194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nouns, plural, hierarchical paths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051560"/>
            <a:ext cx="4160520" cy="1783080"/>
          </a:xfrm>
          <a:prstGeom prst="rect">
            <a:avLst/>
          </a:prstGeom>
          <a:solidFill>
            <a:srgbClr val="132237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051560"/>
            <a:ext cx="416052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0515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56048" y="14630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14447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/v2/products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56048" y="17830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17647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/products?version=2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56048" y="2130552"/>
            <a:ext cx="3931920" cy="1828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194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Prefix URL with /v1, /v2 …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4160520" cy="1783080"/>
          </a:xfrm>
          <a:prstGeom prst="rect">
            <a:avLst/>
          </a:prstGeom>
          <a:solidFill>
            <a:srgbClr val="132237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971800"/>
            <a:ext cx="416052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9718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" y="33832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33649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?page=2&amp;limit=25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37033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36850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?start=25&amp;end=50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4050792"/>
            <a:ext cx="3931920" cy="1828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114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Return total, next/prev links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971800"/>
            <a:ext cx="4160520" cy="1783080"/>
          </a:xfrm>
          <a:prstGeom prst="rect">
            <a:avLst/>
          </a:prstGeom>
          <a:solidFill>
            <a:srgbClr val="13223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971800"/>
            <a:ext cx="41605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9718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Format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56048" y="33832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12080" y="33649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"code": "NOT_FOUND", "message": "..." }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56048" y="37033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36850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"Error 404"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56048" y="4050792"/>
            <a:ext cx="3931920" cy="1828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4114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Consistent machine-readable errors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API Contract?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Contract is a formal agreement between a provider and a consumer that specifies the endpoints, request/response formats, authentication, error handling, and behavior of an API — independent of implementation.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08760" y="2121408"/>
            <a:ext cx="640080" cy="640080"/>
          </a:xfrm>
          <a:prstGeom prst="ellipse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" y="33375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endpoints, HTTP methods, parameters, headers, and request/response schemas (JSON, XML).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55848" y="201168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07408" y="2121408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55848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33375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expected status codes, error formats, rate limits, and side effects of each operation.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54496" y="201168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06056" y="2121408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06056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54496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19088" y="33375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versioned source of truth — enables independent development of client &amp; server teams.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Specification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663440" cy="3794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openapi.yaml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663440" cy="27432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openapi:</a:t>
            </a:r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'3.0.3'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info:</a:t>
            </a:r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79222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</a:t>
            </a:r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 API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9933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version:</a:t>
            </a:r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'1.0.0'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1945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paths:</a:t>
            </a:r>
            <a:pPr indent="0" marL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3957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/users/{id}:</a:t>
            </a:r>
            <a:pPr indent="0" marL="0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5968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get:</a:t>
            </a:r>
            <a:pPr indent="0" marL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79806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summary:</a:t>
            </a:r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 user by ID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2999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parameters:</a:t>
            </a:r>
            <a:pPr indent="0" marL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2004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name:</a:t>
            </a:r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4015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in:</a:t>
            </a:r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path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60273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required:</a:t>
            </a:r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true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380390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responses:</a:t>
            </a:r>
            <a:pPr indent="0" marL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40050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'200':</a:t>
            </a:r>
            <a:pPr indent="0" marL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description:</a:t>
            </a:r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 found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44074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'404':</a:t>
            </a:r>
            <a:pPr indent="0" marL="0">
              <a:buNone/>
            </a:pP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46085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description:</a:t>
            </a:r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 found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57800" y="1005840"/>
            <a:ext cx="3429000" cy="804672"/>
          </a:xfrm>
          <a:prstGeom prst="rect">
            <a:avLst/>
          </a:prstGeom>
          <a:solidFill>
            <a:srgbClr val="13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1808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833872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33872" y="13350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or JSON format — tools can parse, generate code, and validate automatically.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57800" y="1920240"/>
            <a:ext cx="3429000" cy="804672"/>
          </a:xfrm>
          <a:prstGeom prst="rect">
            <a:avLst/>
          </a:prstGeom>
          <a:solidFill>
            <a:srgbClr val="13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2180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833872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Docs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33872" y="22494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renders a live try-it-out interface directly from the spec.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57800" y="2834640"/>
            <a:ext cx="3429000" cy="804672"/>
          </a:xfrm>
          <a:prstGeom prst="rect">
            <a:avLst/>
          </a:prstGeom>
          <a:solidFill>
            <a:srgbClr val="13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321808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33872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33872" y="31638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typed client SDKs and server stubs in 50+ languages via OpenAPI Generator.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57800" y="3749040"/>
            <a:ext cx="3429000" cy="804672"/>
          </a:xfrm>
          <a:prstGeom prst="rect">
            <a:avLst/>
          </a:prstGeom>
          <a:solidFill>
            <a:srgbClr val="132237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321808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833872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833872" y="40782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validation at runtime using the spec as the single source of truth.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Consumer-Driven Contracts with Pact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600200" cy="777240"/>
          </a:xfrm>
          <a:prstGeom prst="rect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(Frontend)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1719072"/>
            <a:ext cx="54864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1371600"/>
            <a:ext cx="1600200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371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 File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(Contract)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1719072"/>
            <a:ext cx="54864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371600"/>
            <a:ext cx="1600200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371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 Broker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719072"/>
            <a:ext cx="54864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03720" y="1371600"/>
            <a:ext cx="160020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371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274320" cy="274320"/>
          </a:xfrm>
          <a:prstGeom prst="ellipse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Consumer Tests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2606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defines expectations — request shape, response schema — in a Pact test suite.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42316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10912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Generate Pact File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10912" y="2606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tests produces a JSON contract file capturing all interactions.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27832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3136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Publish to Broker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" y="34107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 file is pushed to a shared Pact Broker accessible to both teams.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22783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10912" y="3136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Provider Verification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10912" y="34107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CI pulls the contract and verifies its API satisfies every interaction.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032504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" y="39410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Can I Deploy?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4672" y="42153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confirms whether both sides are compatible before any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7432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27432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27432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27432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91440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78040" y="91440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91440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66760" y="91440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0" y="91440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55448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155448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55448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55448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155448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19456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040" y="219456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219456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219456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219456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283464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283464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283464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66760" y="283464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0" y="283464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347472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78040" y="347472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347472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347472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1120" y="347472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411480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78040" y="411480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0" y="411480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66760" y="411480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4114800"/>
            <a:ext cx="91440" cy="91440"/>
          </a:xfrm>
          <a:prstGeom prst="ellipse">
            <a:avLst/>
          </a:prstGeom>
          <a:solidFill>
            <a:srgbClr val="0E9C8B">
              <a:alpha val="30000"/>
            </a:srgbClr>
          </a:solidFill>
          <a:ln w="12700">
            <a:solidFill>
              <a:srgbClr val="0E9C8B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8" name="Shape 36"/>
          <p:cNvSpPr/>
          <p:nvPr/>
        </p:nvSpPr>
        <p:spPr>
          <a:xfrm>
            <a:off x="457200" y="868680"/>
            <a:ext cx="6400800" cy="36576"/>
          </a:xfrm>
          <a:prstGeom prst="rect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1005840"/>
            <a:ext cx="8138160" cy="594360"/>
          </a:xfrm>
          <a:prstGeom prst="rect">
            <a:avLst/>
          </a:prstGeom>
          <a:solidFill>
            <a:srgbClr val="132237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1005840"/>
            <a:ext cx="109728" cy="594360"/>
          </a:xfrm>
          <a:prstGeom prst="rect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10424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is an architectural style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8368" y="12984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protocol — it's a set of constraints that make APIs scalable and maintainable.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664208"/>
            <a:ext cx="8138160" cy="594360"/>
          </a:xfrm>
          <a:prstGeom prst="rect">
            <a:avLst/>
          </a:prstGeom>
          <a:solidFill>
            <a:srgbClr val="132237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1664208"/>
            <a:ext cx="109728" cy="594360"/>
          </a:xfrm>
          <a:prstGeom prst="rect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17007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 have semantics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8368" y="1956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right verb: GET is safe &amp; idempotent; POST creates; DELETE removes.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2322576"/>
            <a:ext cx="8138160" cy="594360"/>
          </a:xfrm>
          <a:prstGeom prst="rect">
            <a:avLst/>
          </a:prstGeom>
          <a:solidFill>
            <a:srgbClr val="132237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2322576"/>
            <a:ext cx="109728" cy="594360"/>
          </a:xfrm>
          <a:prstGeom prst="rect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" y="23591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your consumers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8368" y="26151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naming, pagination, and error formats reduce integration friction.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2980944"/>
            <a:ext cx="8138160" cy="594360"/>
          </a:xfrm>
          <a:prstGeom prst="rect">
            <a:avLst/>
          </a:prstGeom>
          <a:solidFill>
            <a:srgbClr val="132237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2980944"/>
            <a:ext cx="109728" cy="594360"/>
          </a:xfrm>
          <a:prstGeom prst="rect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" y="3017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≠ Documentation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58368" y="32735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is a binding, versioned specification — not an afterthought wiki page.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3639312"/>
            <a:ext cx="8138160" cy="594360"/>
          </a:xfrm>
          <a:prstGeom prst="rect">
            <a:avLst/>
          </a:prstGeom>
          <a:solidFill>
            <a:srgbClr val="132237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00" y="3639312"/>
            <a:ext cx="109728" cy="594360"/>
          </a:xfrm>
          <a:prstGeom prst="rect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8368" y="3675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is the standard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58368" y="3931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specs unlock code gen, mocking, and auto validation.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" y="4297680"/>
            <a:ext cx="8138160" cy="594360"/>
          </a:xfrm>
          <a:prstGeom prst="rect">
            <a:avLst/>
          </a:prstGeom>
          <a:solidFill>
            <a:srgbClr val="132237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7200" y="4297680"/>
            <a:ext cx="109728" cy="594360"/>
          </a:xfrm>
          <a:prstGeom prst="rect">
            <a:avLst/>
          </a:prstGeom>
          <a:solidFill>
            <a:srgbClr val="0E9C8B"/>
          </a:solidFill>
          <a:ln w="12700">
            <a:solidFill>
              <a:srgbClr val="0E9C8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" y="43342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contracts, not just code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58368" y="45902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Consumer-Driven Contract testing catches breaking changes before they reach production.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APIs &amp; API Contracts</dc:title>
  <dc:subject>PptxGenJS Presentation</dc:subject>
  <dc:creator>PptxGenJS</dc:creator>
  <cp:lastModifiedBy>PptxGenJS</cp:lastModifiedBy>
  <cp:revision>1</cp:revision>
  <dcterms:created xsi:type="dcterms:W3CDTF">2026-05-13T18:50:24Z</dcterms:created>
  <dcterms:modified xsi:type="dcterms:W3CDTF">2026-05-13T18:50:24Z</dcterms:modified>
</cp:coreProperties>
</file>